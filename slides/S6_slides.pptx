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45775" cy="80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A1A1A"/>
                </a:solidFill>
                <a:latin typeface="Helvetica"/>
              </a:rPr>
              <a:t>S6 — From gene lists to biology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001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666666"/>
                </a:solidFill>
                <a:latin typeface="Helvetica"/>
              </a:rPr>
              <a:t>What 942 gene names are, and are not, telling you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Yesterday ended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4577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A volcano plot. A few hundred genes that changed between mutant and wild type.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That is a list of names.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It is not yet a statement about biology.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B2182B"/>
                </a:solidFill>
                <a:latin typeface="Helvetica"/>
              </a:rPr>
              <a:t>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You have 942 gene names.</a:t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What is the first thing you do with them?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666666"/>
                </a:solidFill>
                <a:latin typeface="Helvetica"/>
              </a:rPr>
              <a:t>hint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You cannot read 942 gene cards one at a time</a:t>
            </a:r>
          </a:p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What do these genes have in common, other than being on your list?</a:t>
            </a:r>
          </a:p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Somebody has already written down what most genes 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77240"/>
            <a:ext cx="1280160" cy="22860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45775" cy="429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1A1A1A"/>
                </a:solidFill>
                <a:latin typeface="Helvetica"/>
              </a:rPr>
              <a:t>Ask whether the list is unusually full of anything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38020"/>
            <a:ext cx="10545775" cy="458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That is all enrichment analysis is. Everything else is bookkeeping.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A1A1A"/>
                </a:solidFill>
                <a:latin typeface="Helvetica"/>
              </a:rPr>
              <a:t>Where a gene list can be taken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4577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NCBI Gene — what is this gene?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Ensembl — where is it, and what is its equivalent in another species?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ZFIN — everything zebrafish: expression, mutants, phenotypes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UniProt — what does the protein do?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GO — controlled vocabulary of processes and functions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KEGG / Reactome — curated pathway maps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STRING — which proteins interact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Enrichr — is my list unusually full of any of the above?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B2182B"/>
                </a:solidFill>
                <a:latin typeface="Helvetica"/>
              </a:rPr>
              <a:t>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S5 drew the volcano with</a:t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padj &lt; 0.001 and |log2FC| &gt; 2.5.</a:t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Should we use the same cutoffs</a:t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to pick genes for enrichment?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666666"/>
                </a:solidFill>
                <a:latin typeface="Helvetica"/>
              </a:rPr>
              <a:t>hint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Those cutoffs keep 48 up and 55 down genes</a:t>
            </a:r>
          </a:p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What was the volcano's cutoff actually for?</a:t>
            </a:r>
          </a:p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What is this cutoff for?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77240"/>
            <a:ext cx="1280160" cy="22860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45775" cy="429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1A1A1A"/>
                </a:solidFill>
                <a:latin typeface="Helvetica"/>
              </a:rPr>
              <a:t>No. Different job, different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38020"/>
            <a:ext cx="10545775" cy="1833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The volcano's cutoffs exist so the labels stay readable on a crowded figure.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Choosing genes for enrichment is a different question and gets its own answer.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/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Be suspicious of any analysis that reuses a threshold without saying why.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46220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A1A1A"/>
                </a:solidFill>
                <a:latin typeface="Menlo"/>
              </a:rPr>
              <a:t>padj &lt; 0.05  |  |log2FC| &gt; 1      -&gt;  354 up, 588 down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Enrichment is one question, asked ten thousand times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4577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Of my 588 genes, 21 are annotated 'extracellular matrix organization'.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The genome has 92 such genes.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Is 21 more than chance?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/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Coloured balls in an urn. Thousands of tests, so the p-values need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the same multiple-testing correction you met in S4.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77240"/>
            <a:ext cx="1280160" cy="22860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45775" cy="429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1A1A1A"/>
                </a:solidFill>
                <a:latin typeface="Helvetica"/>
              </a:rPr>
              <a:t>The down-regulated genes: 5 terms from 918 tested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38020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A1A1A"/>
                </a:solidFill>
                <a:latin typeface="Menlo"/>
              </a:rPr>
              <a:t>extracellular matrix organization      21/92    1.8e-10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A1A1A"/>
                </a:solidFill>
                <a:latin typeface="Menlo"/>
              </a:rPr>
              <a:t>response to light stimulus             14/84    4.5e-05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A1A1A"/>
                </a:solidFill>
                <a:latin typeface="Menlo"/>
              </a:rPr>
              <a:t>skeletal system development           18/137    4.5e-05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A1A1A"/>
                </a:solidFill>
                <a:latin typeface="Menlo"/>
              </a:rPr>
              <a:t>notochord morphogenesis                 6/15    5.8e-04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A1A1A"/>
                </a:solidFill>
                <a:latin typeface="Menlo"/>
              </a:rPr>
              <a:t>cellular response to radiation          8/47    1.1e-02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B2182B"/>
                </a:solidFill>
                <a:latin typeface="Helvetica"/>
              </a:rPr>
              <a:t>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The up-regulated genes return nothing.</a:t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354 genes, zero significant terms.</a:t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Is that a result, or a failure?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666666"/>
                </a:solidFill>
                <a:latin typeface="Helvetica"/>
              </a:rPr>
              <a:t>hint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The genes are real: strong fold changes, tiny adjusted p-values</a:t>
            </a:r>
          </a:p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How old is FishEnrichr's GO library?</a:t>
            </a:r>
          </a:p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Who decides what a zebrafish gene is annotated with?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77240"/>
            <a:ext cx="1280160" cy="22860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45775" cy="429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1A1A1A"/>
                </a:solidFill>
                <a:latin typeface="Helvetica"/>
              </a:rPr>
              <a:t>Hold that thought until S7.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38020"/>
            <a:ext cx="10545775" cy="458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There is more than one explanation, and they lead to different actions.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834640"/>
            <a:ext cx="105457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800" b="1" i="0">
                <a:solidFill>
                  <a:srgbClr val="1A1A1A"/>
                </a:solidFill>
                <a:latin typeface="Helvetica"/>
              </a:rPr>
              <a:t>Now the part most tutorials skip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B2182B"/>
                </a:solidFill>
                <a:latin typeface="Helvetica"/>
              </a:rPr>
              <a:t>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'cellular response to radiation', padj = 0.011.</a:t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There was no radiation in this experiment.</a:t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Where did this come from?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666666"/>
                </a:solidFill>
                <a:latin typeface="Helvetica"/>
              </a:rPr>
              <a:t>hint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Every enrichment table has a Genes column</a:t>
            </a:r>
          </a:p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Read it</a:t>
            </a:r>
          </a:p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opn1sw1, opn1sw2, rhol, rho, opn4a, opn1lw2, opn1mw1, bbc3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77240"/>
            <a:ext cx="1280160" cy="22860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45775" cy="429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1A1A1A"/>
                </a:solidFill>
                <a:latin typeface="Helvetica"/>
              </a:rPr>
              <a:t>Five cone opsins, two rhodopsins — and one honest gene.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38020"/>
            <a:ext cx="10545775" cy="2750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Light is electromagnetic radiation, so photoreceptor genes get annotated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to a radiation term. The statistics are correct; the label misleads.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The seven also sit in 'response to light stimulus', mixed with clock genes.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/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The eighth, bbc3, is PUMA, and it really is a DNA-damage gene.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One out of eight, arriving with seven that do not belong, is not evidence.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 i="0">
                <a:solidFill>
                  <a:srgbClr val="1A1A1A"/>
                </a:solidFill>
                <a:latin typeface="Helvetica"/>
              </a:rPr>
              <a:t>Never report a GO term</a:t>
            </a:r>
          </a:p>
          <a:p>
            <a:pPr algn="l">
              <a:spcAft>
                <a:spcPts val="1000"/>
              </a:spcAft>
            </a:pPr>
            <a:r>
              <a:rPr sz="3400" b="1" i="0">
                <a:solidFill>
                  <a:srgbClr val="1A1A1A"/>
                </a:solidFill>
                <a:latin typeface="Helvetica"/>
              </a:rPr>
              <a:t>before reading the genes that produced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4577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It takes ten seconds and it is the single most useful habit in this course.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B2182B"/>
                </a:solidFill>
                <a:latin typeface="Helvetica"/>
              </a:rPr>
              <a:t>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These are dissected hearts at 48 hpf.</a:t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Rhodopsin sits at baseMean 2,100.</a:t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crx sits at 2,900.</a:t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Discovery, or problem?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666666"/>
                </a:solidFill>
                <a:latin typeface="Helvetica"/>
              </a:rPr>
              <a:t>hint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crx is the master regulator of photoreceptor identity</a:t>
            </a:r>
          </a:p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What tissue is definitely in the tube?</a:t>
            </a:r>
          </a:p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Now look at per1a, per2, per3, nr1d1, npas2 — all down together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77240"/>
            <a:ext cx="1280160" cy="22860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45775" cy="429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1A1A1A"/>
                </a:solidFill>
                <a:latin typeface="Helvetica"/>
              </a:rPr>
              <a:t>Neither set is about the mutation.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38020"/>
            <a:ext cx="10545775" cy="2292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The opsins tell you what tissue is in the tube: eye, or whole embryo.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The clock genes moving together tell you the samples were collected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at different times of day.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/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Finding them is not the analysis failing. It is the analysis working.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